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4FFD58-362F-4679-53E4-172C0E07E8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33C1B8F-7E9A-5055-986F-E50F590632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6F4242-C3DC-D66B-ACFF-99B75529A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7559-8458-46B6-9C63-BE6212DF1858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08D36B-8E11-838F-D763-835371DCC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EBEE69-DE6C-181B-D3F2-B6836427B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F484E-0EF0-4FB8-8677-3E1E51568C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7957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86247B-5C5A-92AA-8333-2D50C0587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60083C-0AF2-1EEF-AC51-74FB95E50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BB63A5F-DCE2-3D13-14D4-B046F3FEB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7559-8458-46B6-9C63-BE6212DF1858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BBFF2B-616F-20F8-B913-796134DFF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B16668-546B-CE35-2715-77385DB50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F484E-0EF0-4FB8-8677-3E1E51568C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2637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95FA79-F6A8-B1D4-BEE3-B4FC1395A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4E92FE0-712B-51CD-FD91-849183C27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F1B344-0B78-2745-1EA9-170C7E39C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7559-8458-46B6-9C63-BE6212DF1858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575DFC1-7306-298E-8E92-CFD1A59AA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5A47D5-E55C-A980-672D-39B8CB938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F484E-0EF0-4FB8-8677-3E1E51568C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4529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7A8F75-A35D-9E13-DFA3-B9281A63B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C27D1F-80E0-1757-ACEE-A30ECF88BC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34756BD-A737-BA23-4F59-627220E1F8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33B574A-F5C7-FA3D-6B9B-B165A8BBC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7559-8458-46B6-9C63-BE6212DF1858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DC68DE6-702A-312C-3D7D-1A02A2973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C57177E-2C8B-8B87-7311-2BA4FAF61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F484E-0EF0-4FB8-8677-3E1E51568C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7939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6492CE-411E-B406-88E7-098B7B4E3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2D68FEB-3D88-9F6D-9529-3FD2C38F7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EBF314B-093E-784A-0460-CB34B61CC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4AB5CD7-57CF-635A-173C-0A4160EFFC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8EC924B-897D-8627-9806-EBF8C79606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55366FB-C295-D67B-39BB-968391F3F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7559-8458-46B6-9C63-BE6212DF1858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909A778-DE2C-4DA3-ADC7-DDD6CBC54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CE0BB0C-1804-A5C9-516F-102EB4ECF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F484E-0EF0-4FB8-8677-3E1E51568C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0617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8B1B59-8DE4-9433-AF31-8526E5704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CC2311D-62CB-85DF-4AF4-75C17B81C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7559-8458-46B6-9C63-BE6212DF1858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6433D0F-4964-2299-3260-617A75EBF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501C972-92F8-B3D5-6D57-AF2F35535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F484E-0EF0-4FB8-8677-3E1E51568C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8882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840BDDA-82DC-7AC2-9D93-D68DDDAAF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7559-8458-46B6-9C63-BE6212DF1858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CFEA2B5-1B0A-D725-A65D-DC825DCF0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D751D6-87B8-003F-DBA8-0D2E9425B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F484E-0EF0-4FB8-8677-3E1E51568C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112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8B73CD-8D94-CAF2-689F-9AA23C68A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74EBD8-AD27-3DCE-3501-7B8770389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2AF1789-119F-49AB-BEF2-114A2F9FF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BF63006-8D31-9B79-C7E5-86D9D1609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7559-8458-46B6-9C63-BE6212DF1858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53BB2D2-C3C7-8C03-1DD9-EA13F71DB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A3B9D1F-907E-A8CA-A8D0-EBD6A27CF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F484E-0EF0-4FB8-8677-3E1E51568C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0566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787F0C-F24A-6E56-0CE5-0F808AC07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C338E6F-BCEC-AE78-89F4-6ABCC09B338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CA56CB2-F90B-1BCE-B58A-E1C2DC3494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B894A28-8E3E-04F9-245C-BA57A6BB9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7559-8458-46B6-9C63-BE6212DF1858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355744A-CE6E-5C8E-7CC5-8723796D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C0482D6-4D02-1C58-0695-B0037ABBB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F484E-0EF0-4FB8-8677-3E1E51568C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6611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5A179A-BCF1-E12D-5A0A-CB32B2DDF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9ED6110-F14F-5D5D-4BD1-FD492ADB61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B9ECF6-0F95-A52E-9E05-97D0B7CA5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7559-8458-46B6-9C63-BE6212DF1858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2FF5C9F-2776-3B1F-457E-D24DEC823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748A97-34EC-B905-4FD1-92F549286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F484E-0EF0-4FB8-8677-3E1E51568C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6960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0495F9C-788F-A889-3331-DD892EDB44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6AA4AD6-F6FE-C23D-102C-A0F8F39971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607B11-8971-DC20-6B10-76DC48221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7559-8458-46B6-9C63-BE6212DF1858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C057185-A430-DEE4-F762-5429B5369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B992CC-0EAF-92F6-052F-5E1073CB0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F484E-0EF0-4FB8-8677-3E1E51568C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019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DF03FF2-AC90-26E0-9BE8-E36433F9C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61DFD3-B2A8-C62E-12D1-03E9823AE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EB201C6-5992-4FB4-7B93-63136CBB49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567559-8458-46B6-9C63-BE6212DF1858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289ECF-8286-BF55-063C-970592EE94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B2AA1C-B974-474E-DB5E-D2559FE93A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6F484E-0EF0-4FB8-8677-3E1E51568C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6200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292C19DA-DEB1-B461-E9AB-D52E896EC6C3}"/>
              </a:ext>
            </a:extLst>
          </p:cNvPr>
          <p:cNvSpPr/>
          <p:nvPr/>
        </p:nvSpPr>
        <p:spPr>
          <a:xfrm>
            <a:off x="609600" y="4410967"/>
            <a:ext cx="10972800" cy="6667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ounded Rectangle 2">
            <a:extLst>
              <a:ext uri="{FF2B5EF4-FFF2-40B4-BE49-F238E27FC236}">
                <a16:creationId xmlns:a16="http://schemas.microsoft.com/office/drawing/2014/main" id="{EB79E0C3-0313-B1B6-5EED-84721CF35D83}"/>
              </a:ext>
            </a:extLst>
          </p:cNvPr>
          <p:cNvSpPr/>
          <p:nvPr/>
        </p:nvSpPr>
        <p:spPr>
          <a:xfrm>
            <a:off x="609600" y="1780282"/>
            <a:ext cx="1762125" cy="276225"/>
          </a:xfrm>
          <a:prstGeom prst="roundRect">
            <a:avLst>
              <a:gd name="adj" fmla="val 50000"/>
            </a:avLst>
          </a:prstGeom>
          <a:solidFill>
            <a:srgbClr val="0F2C47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F65ECAD-55A9-AEC6-66CF-A7FF7ACA2490}"/>
              </a:ext>
            </a:extLst>
          </p:cNvPr>
          <p:cNvSpPr/>
          <p:nvPr/>
        </p:nvSpPr>
        <p:spPr>
          <a:xfrm>
            <a:off x="609600" y="4410967"/>
            <a:ext cx="10972800" cy="9525"/>
          </a:xfrm>
          <a:prstGeom prst="rect">
            <a:avLst/>
          </a:prstGeom>
          <a:solidFill>
            <a:srgbClr val="334155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4">
            <a:extLst>
              <a:ext uri="{FF2B5EF4-FFF2-40B4-BE49-F238E27FC236}">
                <a16:creationId xmlns:a16="http://schemas.microsoft.com/office/drawing/2014/main" id="{B7040EE0-91CD-00E7-62FD-9B29D69AC7A2}"/>
              </a:ext>
            </a:extLst>
          </p:cNvPr>
          <p:cNvSpPr txBox="1"/>
          <p:nvPr/>
        </p:nvSpPr>
        <p:spPr>
          <a:xfrm>
            <a:off x="609600" y="2056507"/>
            <a:ext cx="8601075" cy="589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>
              <a:lnSpc>
                <a:spcPts val="4620"/>
              </a:lnSpc>
            </a:pPr>
            <a:r>
              <a:rPr lang="fr-FR" sz="4200" b="1" dirty="0">
                <a:solidFill>
                  <a:srgbClr val="F8FAFC"/>
                </a:solidFill>
                <a:latin typeface="Inter"/>
              </a:rPr>
              <a:t>Building Perceptron</a:t>
            </a:r>
            <a:endParaRPr sz="4200" b="1" dirty="0">
              <a:solidFill>
                <a:srgbClr val="F8FAFC"/>
              </a:solidFill>
              <a:latin typeface="Inter"/>
            </a:endParaRPr>
          </a:p>
        </p:txBody>
      </p:sp>
      <p:sp>
        <p:nvSpPr>
          <p:cNvPr id="30" name="TextBox 5">
            <a:extLst>
              <a:ext uri="{FF2B5EF4-FFF2-40B4-BE49-F238E27FC236}">
                <a16:creationId xmlns:a16="http://schemas.microsoft.com/office/drawing/2014/main" id="{AD238BED-4D97-C440-EBA2-B6B675E7D86B}"/>
              </a:ext>
            </a:extLst>
          </p:cNvPr>
          <p:cNvSpPr txBox="1"/>
          <p:nvPr/>
        </p:nvSpPr>
        <p:spPr>
          <a:xfrm>
            <a:off x="609600" y="3458467"/>
            <a:ext cx="65722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fr-FR" sz="1600" dirty="0">
                <a:solidFill>
                  <a:schemeClr val="bg1"/>
                </a:solidFill>
              </a:rPr>
              <a:t>Du neurone biologique à la classification linéaire</a:t>
            </a:r>
            <a:endParaRPr sz="1500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31" name="TextBox 6">
            <a:extLst>
              <a:ext uri="{FF2B5EF4-FFF2-40B4-BE49-F238E27FC236}">
                <a16:creationId xmlns:a16="http://schemas.microsoft.com/office/drawing/2014/main" id="{1AE35FEE-3856-913B-D003-A0DB16FD1297}"/>
              </a:ext>
            </a:extLst>
          </p:cNvPr>
          <p:cNvSpPr txBox="1"/>
          <p:nvPr/>
        </p:nvSpPr>
        <p:spPr>
          <a:xfrm>
            <a:off x="762000" y="1837432"/>
            <a:ext cx="15525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sz="1050" b="1">
                <a:solidFill>
                  <a:srgbClr val="38BDF8"/>
                </a:solidFill>
                <a:latin typeface="Inter"/>
              </a:rPr>
              <a:t>FRAMEWORK AGILE</a:t>
            </a:r>
          </a:p>
        </p:txBody>
      </p:sp>
      <p:sp>
        <p:nvSpPr>
          <p:cNvPr id="33" name="TextBox 8">
            <a:extLst>
              <a:ext uri="{FF2B5EF4-FFF2-40B4-BE49-F238E27FC236}">
                <a16:creationId xmlns:a16="http://schemas.microsoft.com/office/drawing/2014/main" id="{AB4F6F29-B87D-4761-0515-6059D5EAD02A}"/>
              </a:ext>
            </a:extLst>
          </p:cNvPr>
          <p:cNvSpPr txBox="1"/>
          <p:nvPr/>
        </p:nvSpPr>
        <p:spPr>
          <a:xfrm>
            <a:off x="609600" y="4687192"/>
            <a:ext cx="53700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lang="fr-FR" sz="1050" dirty="0">
                <a:solidFill>
                  <a:srgbClr val="64748B"/>
                </a:solidFill>
                <a:latin typeface="Inter"/>
              </a:rPr>
              <a:t>Mots</a:t>
            </a:r>
            <a:r>
              <a:rPr sz="1050" dirty="0">
                <a:solidFill>
                  <a:srgbClr val="64748B"/>
                </a:solidFill>
                <a:latin typeface="Inter"/>
              </a:rPr>
              <a:t> </a:t>
            </a:r>
            <a:r>
              <a:rPr sz="1050" dirty="0" err="1">
                <a:solidFill>
                  <a:srgbClr val="64748B"/>
                </a:solidFill>
                <a:latin typeface="Inter"/>
              </a:rPr>
              <a:t>Clés</a:t>
            </a:r>
            <a:endParaRPr sz="1050" dirty="0">
              <a:solidFill>
                <a:srgbClr val="64748B"/>
              </a:solidFill>
              <a:latin typeface="Inter"/>
            </a:endParaRPr>
          </a:p>
        </p:txBody>
      </p:sp>
      <p:sp>
        <p:nvSpPr>
          <p:cNvPr id="34" name="TextBox 9">
            <a:extLst>
              <a:ext uri="{FF2B5EF4-FFF2-40B4-BE49-F238E27FC236}">
                <a16:creationId xmlns:a16="http://schemas.microsoft.com/office/drawing/2014/main" id="{002C3245-5854-E199-A9A0-62CFB60A275D}"/>
              </a:ext>
            </a:extLst>
          </p:cNvPr>
          <p:cNvSpPr txBox="1"/>
          <p:nvPr/>
        </p:nvSpPr>
        <p:spPr>
          <a:xfrm>
            <a:off x="609599" y="4887217"/>
            <a:ext cx="385746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lang="fr-FR" sz="1200" b="1">
                <a:solidFill>
                  <a:srgbClr val="E2E8F0"/>
                </a:solidFill>
                <a:latin typeface="Inter"/>
              </a:rPr>
              <a:t>Neurone </a:t>
            </a:r>
            <a:r>
              <a:rPr lang="fr-FR" sz="1200" b="1" dirty="0">
                <a:solidFill>
                  <a:srgbClr val="E2E8F0"/>
                </a:solidFill>
                <a:latin typeface="Inter"/>
              </a:rPr>
              <a:t>artificiel, Classifieur linéaire, Fonction de seuil</a:t>
            </a:r>
            <a:endParaRPr sz="1200" b="1" dirty="0">
              <a:solidFill>
                <a:srgbClr val="E2E8F0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265141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232D4-2228-2493-B0EA-4787B121F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099665FA-F252-E11A-D509-0F54A71A667B}"/>
              </a:ext>
            </a:extLst>
          </p:cNvPr>
          <p:cNvSpPr/>
          <p:nvPr/>
        </p:nvSpPr>
        <p:spPr>
          <a:xfrm>
            <a:off x="609600" y="2763142"/>
            <a:ext cx="3505200" cy="2295525"/>
          </a:xfrm>
          <a:prstGeom prst="roundRect">
            <a:avLst>
              <a:gd name="adj" fmla="val 66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5F04D1A0-5B73-56B8-4258-ED8E92787EC1}"/>
              </a:ext>
            </a:extLst>
          </p:cNvPr>
          <p:cNvSpPr/>
          <p:nvPr/>
        </p:nvSpPr>
        <p:spPr>
          <a:xfrm>
            <a:off x="4343400" y="2763142"/>
            <a:ext cx="3505200" cy="2295525"/>
          </a:xfrm>
          <a:prstGeom prst="roundRect">
            <a:avLst>
              <a:gd name="adj" fmla="val 66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86FBB8EC-678E-8718-1DFB-91964778CA49}"/>
              </a:ext>
            </a:extLst>
          </p:cNvPr>
          <p:cNvSpPr/>
          <p:nvPr/>
        </p:nvSpPr>
        <p:spPr>
          <a:xfrm>
            <a:off x="8077200" y="2763142"/>
            <a:ext cx="3505200" cy="2295525"/>
          </a:xfrm>
          <a:prstGeom prst="roundRect">
            <a:avLst>
              <a:gd name="adj" fmla="val 66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4" descr="image.png">
            <a:extLst>
              <a:ext uri="{FF2B5EF4-FFF2-40B4-BE49-F238E27FC236}">
                <a16:creationId xmlns:a16="http://schemas.microsoft.com/office/drawing/2014/main" id="{C4C875C4-E4AA-EB1F-19B5-CF3477A70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077467"/>
            <a:ext cx="457200" cy="457200"/>
          </a:xfrm>
          <a:prstGeom prst="rect">
            <a:avLst/>
          </a:prstGeom>
        </p:spPr>
      </p:pic>
      <p:pic>
        <p:nvPicPr>
          <p:cNvPr id="11" name="Picture 5" descr="image.png">
            <a:extLst>
              <a:ext uri="{FF2B5EF4-FFF2-40B4-BE49-F238E27FC236}">
                <a16:creationId xmlns:a16="http://schemas.microsoft.com/office/drawing/2014/main" id="{D1588372-2249-54B3-49C4-C08B70EF9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077467"/>
            <a:ext cx="457200" cy="457200"/>
          </a:xfrm>
          <a:prstGeom prst="rect">
            <a:avLst/>
          </a:prstGeom>
        </p:spPr>
      </p:pic>
      <p:pic>
        <p:nvPicPr>
          <p:cNvPr id="13" name="Picture 6" descr="image.png">
            <a:extLst>
              <a:ext uri="{FF2B5EF4-FFF2-40B4-BE49-F238E27FC236}">
                <a16:creationId xmlns:a16="http://schemas.microsoft.com/office/drawing/2014/main" id="{26ED008D-0898-BDB3-CE05-A4AD9B7D97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077467"/>
            <a:ext cx="457200" cy="457200"/>
          </a:xfrm>
          <a:prstGeom prst="rect">
            <a:avLst/>
          </a:prstGeom>
        </p:spPr>
      </p:pic>
      <p:pic>
        <p:nvPicPr>
          <p:cNvPr id="15" name="Picture 7" descr="image.png">
            <a:extLst>
              <a:ext uri="{FF2B5EF4-FFF2-40B4-BE49-F238E27FC236}">
                <a16:creationId xmlns:a16="http://schemas.microsoft.com/office/drawing/2014/main" id="{14DA521E-C632-4C6C-0F80-26FE9634EE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462" y="3210817"/>
            <a:ext cx="238125" cy="190500"/>
          </a:xfrm>
          <a:prstGeom prst="rect">
            <a:avLst/>
          </a:prstGeom>
        </p:spPr>
      </p:pic>
      <p:pic>
        <p:nvPicPr>
          <p:cNvPr id="17" name="Picture 8" descr="image.png">
            <a:extLst>
              <a:ext uri="{FF2B5EF4-FFF2-40B4-BE49-F238E27FC236}">
                <a16:creationId xmlns:a16="http://schemas.microsoft.com/office/drawing/2014/main" id="{F6E502E0-23A8-1AB9-60E2-3929779A11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075" y="3210817"/>
            <a:ext cx="190500" cy="190500"/>
          </a:xfrm>
          <a:prstGeom prst="rect">
            <a:avLst/>
          </a:prstGeom>
        </p:spPr>
      </p:pic>
      <p:pic>
        <p:nvPicPr>
          <p:cNvPr id="19" name="Picture 9" descr="image.png">
            <a:extLst>
              <a:ext uri="{FF2B5EF4-FFF2-40B4-BE49-F238E27FC236}">
                <a16:creationId xmlns:a16="http://schemas.microsoft.com/office/drawing/2014/main" id="{4BE60545-37CD-15DC-9375-06D07972C4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4400" y="3210817"/>
            <a:ext cx="171450" cy="190500"/>
          </a:xfrm>
          <a:prstGeom prst="rect">
            <a:avLst/>
          </a:prstGeom>
        </p:spPr>
      </p:pic>
      <p:sp>
        <p:nvSpPr>
          <p:cNvPr id="21" name="TextBox 11">
            <a:extLst>
              <a:ext uri="{FF2B5EF4-FFF2-40B4-BE49-F238E27FC236}">
                <a16:creationId xmlns:a16="http://schemas.microsoft.com/office/drawing/2014/main" id="{B0F181F2-84BF-3A13-46DE-6F8D1A20149F}"/>
              </a:ext>
            </a:extLst>
          </p:cNvPr>
          <p:cNvSpPr txBox="1"/>
          <p:nvPr/>
        </p:nvSpPr>
        <p:spPr>
          <a:xfrm>
            <a:off x="609600" y="781050"/>
            <a:ext cx="115824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The Perceptron: The Biological Inspiration</a:t>
            </a:r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8E565A72-25BA-90C3-EB66-8D8799FBB5F9}"/>
              </a:ext>
            </a:extLst>
          </p:cNvPr>
          <p:cNvSpPr txBox="1"/>
          <p:nvPr/>
        </p:nvSpPr>
        <p:spPr>
          <a:xfrm>
            <a:off x="923925" y="3725167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Artificial Neuron</a:t>
            </a:r>
          </a:p>
        </p:txBody>
      </p:sp>
      <p:sp>
        <p:nvSpPr>
          <p:cNvPr id="25" name="TextBox 13">
            <a:extLst>
              <a:ext uri="{FF2B5EF4-FFF2-40B4-BE49-F238E27FC236}">
                <a16:creationId xmlns:a16="http://schemas.microsoft.com/office/drawing/2014/main" id="{169CDD2C-7768-58A2-5DA9-903E98EA6222}"/>
              </a:ext>
            </a:extLst>
          </p:cNvPr>
          <p:cNvSpPr txBox="1"/>
          <p:nvPr/>
        </p:nvSpPr>
        <p:spPr>
          <a:xfrm>
            <a:off x="923925" y="4058542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Mathematical model mimicking biological nerve cells to process binary inputs.</a:t>
            </a:r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53095C3B-BF85-F4DF-AE1C-B742EE47594D}"/>
              </a:ext>
            </a:extLst>
          </p:cNvPr>
          <p:cNvSpPr txBox="1"/>
          <p:nvPr/>
        </p:nvSpPr>
        <p:spPr>
          <a:xfrm>
            <a:off x="4657725" y="3725167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Weighted Inputs</a:t>
            </a:r>
          </a:p>
        </p:txBody>
      </p:sp>
      <p:sp>
        <p:nvSpPr>
          <p:cNvPr id="29" name="TextBox 15">
            <a:extLst>
              <a:ext uri="{FF2B5EF4-FFF2-40B4-BE49-F238E27FC236}">
                <a16:creationId xmlns:a16="http://schemas.microsoft.com/office/drawing/2014/main" id="{684618F8-B3A9-8747-6887-49CE43112BD3}"/>
              </a:ext>
            </a:extLst>
          </p:cNvPr>
          <p:cNvSpPr txBox="1"/>
          <p:nvPr/>
        </p:nvSpPr>
        <p:spPr>
          <a:xfrm>
            <a:off x="4657725" y="4058542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Each incoming signal is multiplied by a weight determining its relative importance.</a:t>
            </a:r>
          </a:p>
        </p:txBody>
      </p:sp>
      <p:sp>
        <p:nvSpPr>
          <p:cNvPr id="31" name="TextBox 16">
            <a:extLst>
              <a:ext uri="{FF2B5EF4-FFF2-40B4-BE49-F238E27FC236}">
                <a16:creationId xmlns:a16="http://schemas.microsoft.com/office/drawing/2014/main" id="{C376A533-D56C-C71D-4EBB-EF91A39C8339}"/>
              </a:ext>
            </a:extLst>
          </p:cNvPr>
          <p:cNvSpPr txBox="1"/>
          <p:nvPr/>
        </p:nvSpPr>
        <p:spPr>
          <a:xfrm>
            <a:off x="8391525" y="3725167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Activation Threshold</a:t>
            </a:r>
          </a:p>
        </p:txBody>
      </p:sp>
      <p:sp>
        <p:nvSpPr>
          <p:cNvPr id="33" name="TextBox 17">
            <a:extLst>
              <a:ext uri="{FF2B5EF4-FFF2-40B4-BE49-F238E27FC236}">
                <a16:creationId xmlns:a16="http://schemas.microsoft.com/office/drawing/2014/main" id="{58D0C3B3-DEC5-82C6-88AD-89DF1DBDD242}"/>
              </a:ext>
            </a:extLst>
          </p:cNvPr>
          <p:cNvSpPr txBox="1"/>
          <p:nvPr/>
        </p:nvSpPr>
        <p:spPr>
          <a:xfrm>
            <a:off x="8391525" y="4058542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Summed inputs pass through an activation function to trigger output firing.</a:t>
            </a:r>
          </a:p>
        </p:txBody>
      </p:sp>
    </p:spTree>
    <p:extLst>
      <p:ext uri="{BB962C8B-B14F-4D97-AF65-F5344CB8AC3E}">
        <p14:creationId xmlns:p14="http://schemas.microsoft.com/office/powerpoint/2010/main" val="1383039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1A48D-F3B3-0D97-E061-8C62C84BE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D165DE2-9D96-9BA2-77CA-3EADEAE03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654" y="0"/>
            <a:ext cx="105246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286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0A925-B748-2796-7C73-D680B1DFA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3E13844-36C8-BBF8-B696-D70C737ED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654" y="0"/>
            <a:ext cx="105246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01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B9EAF-11A4-B7DE-52B1-B1DA43E01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683AB3C-A894-C496-075A-C906C69D3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654" y="0"/>
            <a:ext cx="105246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992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1">
            <a:extLst>
              <a:ext uri="{FF2B5EF4-FFF2-40B4-BE49-F238E27FC236}">
                <a16:creationId xmlns:a16="http://schemas.microsoft.com/office/drawing/2014/main" id="{E4809E18-B0A0-D7FB-5B15-444AD0F2AE15}"/>
              </a:ext>
            </a:extLst>
          </p:cNvPr>
          <p:cNvSpPr/>
          <p:nvPr/>
        </p:nvSpPr>
        <p:spPr>
          <a:xfrm>
            <a:off x="609600" y="2844105"/>
            <a:ext cx="5334000" cy="21336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2EF8C932-B47F-3106-648D-FF31F09489ED}"/>
              </a:ext>
            </a:extLst>
          </p:cNvPr>
          <p:cNvSpPr/>
          <p:nvPr/>
        </p:nvSpPr>
        <p:spPr>
          <a:xfrm>
            <a:off x="6248400" y="2844105"/>
            <a:ext cx="5334000" cy="21336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2E9062-0367-DA4E-CA30-0A14137D5F99}"/>
              </a:ext>
            </a:extLst>
          </p:cNvPr>
          <p:cNvSpPr/>
          <p:nvPr/>
        </p:nvSpPr>
        <p:spPr>
          <a:xfrm>
            <a:off x="609600" y="2844105"/>
            <a:ext cx="38100" cy="2133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4CCF98-25EA-9AE1-82DA-9971819A240E}"/>
              </a:ext>
            </a:extLst>
          </p:cNvPr>
          <p:cNvSpPr/>
          <p:nvPr/>
        </p:nvSpPr>
        <p:spPr>
          <a:xfrm>
            <a:off x="6248400" y="2844105"/>
            <a:ext cx="38100" cy="21336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6FCBEFAF-E4B3-3512-BB7C-52DCE2913C0F}"/>
              </a:ext>
            </a:extLst>
          </p:cNvPr>
          <p:cNvSpPr txBox="1"/>
          <p:nvPr/>
        </p:nvSpPr>
        <p:spPr>
          <a:xfrm>
            <a:off x="609600" y="781050"/>
            <a:ext cx="115824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How the Perceptron Computes Decisions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9DB28820-F35D-0986-589F-C28E8DF841DE}"/>
              </a:ext>
            </a:extLst>
          </p:cNvPr>
          <p:cNvSpPr txBox="1"/>
          <p:nvPr/>
        </p:nvSpPr>
        <p:spPr>
          <a:xfrm>
            <a:off x="990600" y="3187005"/>
            <a:ext cx="605075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Linear Separation</a:t>
            </a: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40038713-E2D4-7252-DA6D-ED41A7473939}"/>
              </a:ext>
            </a:extLst>
          </p:cNvPr>
          <p:cNvSpPr txBox="1"/>
          <p:nvPr/>
        </p:nvSpPr>
        <p:spPr>
          <a:xfrm>
            <a:off x="990600" y="3568005"/>
            <a:ext cx="4705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Draws a decision boundary to classify data points into distinct groups.</a:t>
            </a:r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8BC0BF19-4C0D-41B2-AA37-4D62CF4C2EE7}"/>
              </a:ext>
            </a:extLst>
          </p:cNvPr>
          <p:cNvSpPr txBox="1"/>
          <p:nvPr/>
        </p:nvSpPr>
        <p:spPr>
          <a:xfrm>
            <a:off x="6629400" y="3187005"/>
            <a:ext cx="55626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Learning Rule</a:t>
            </a:r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DEE71564-D9AA-3A91-0F9F-07D73B16AB28}"/>
              </a:ext>
            </a:extLst>
          </p:cNvPr>
          <p:cNvSpPr txBox="1"/>
          <p:nvPr/>
        </p:nvSpPr>
        <p:spPr>
          <a:xfrm>
            <a:off x="6629400" y="3568005"/>
            <a:ext cx="4705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Automatically adjusts weights based on classification errors during training.</a:t>
            </a: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55D3D351-6F3D-93B8-18A1-9A7CC8EB999E}"/>
              </a:ext>
            </a:extLst>
          </p:cNvPr>
          <p:cNvSpPr txBox="1"/>
          <p:nvPr/>
        </p:nvSpPr>
        <p:spPr>
          <a:xfrm>
            <a:off x="1085850" y="4177605"/>
            <a:ext cx="762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5055B166-013C-FD5B-7449-256C5EA0AF4A}"/>
              </a:ext>
            </a:extLst>
          </p:cNvPr>
          <p:cNvSpPr txBox="1"/>
          <p:nvPr/>
        </p:nvSpPr>
        <p:spPr>
          <a:xfrm>
            <a:off x="1162050" y="4177605"/>
            <a:ext cx="5548312" cy="22860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Limitation: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Cannot solve non-linear problems like XOR.</a:t>
            </a:r>
          </a:p>
        </p:txBody>
      </p:sp>
      <p:sp>
        <p:nvSpPr>
          <p:cNvPr id="27" name="TextBox 13">
            <a:extLst>
              <a:ext uri="{FF2B5EF4-FFF2-40B4-BE49-F238E27FC236}">
                <a16:creationId xmlns:a16="http://schemas.microsoft.com/office/drawing/2014/main" id="{9244D565-09EE-0C41-CF96-2F34DC56DDCB}"/>
              </a:ext>
            </a:extLst>
          </p:cNvPr>
          <p:cNvSpPr txBox="1"/>
          <p:nvPr/>
        </p:nvSpPr>
        <p:spPr>
          <a:xfrm>
            <a:off x="1085850" y="4406205"/>
            <a:ext cx="762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29" name="TextBox 14">
            <a:extLst>
              <a:ext uri="{FF2B5EF4-FFF2-40B4-BE49-F238E27FC236}">
                <a16:creationId xmlns:a16="http://schemas.microsoft.com/office/drawing/2014/main" id="{37341D97-0272-258B-9DB4-7BBE94978BDA}"/>
              </a:ext>
            </a:extLst>
          </p:cNvPr>
          <p:cNvSpPr txBox="1"/>
          <p:nvPr/>
        </p:nvSpPr>
        <p:spPr>
          <a:xfrm>
            <a:off x="1162050" y="4406205"/>
            <a:ext cx="5548312" cy="22860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Evolution: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Led directly to modern deep neural networks.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349F8B44-97AE-6C0E-E1E6-8733EBBEC22B}"/>
              </a:ext>
            </a:extLst>
          </p:cNvPr>
          <p:cNvSpPr txBox="1"/>
          <p:nvPr/>
        </p:nvSpPr>
        <p:spPr>
          <a:xfrm>
            <a:off x="6724650" y="4177605"/>
            <a:ext cx="762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33" name="TextBox 16">
            <a:extLst>
              <a:ext uri="{FF2B5EF4-FFF2-40B4-BE49-F238E27FC236}">
                <a16:creationId xmlns:a16="http://schemas.microsoft.com/office/drawing/2014/main" id="{CB4C94D6-438D-3DA5-A189-C237629D013D}"/>
              </a:ext>
            </a:extLst>
          </p:cNvPr>
          <p:cNvSpPr txBox="1"/>
          <p:nvPr/>
        </p:nvSpPr>
        <p:spPr>
          <a:xfrm>
            <a:off x="6800850" y="4177605"/>
            <a:ext cx="5391150" cy="22860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Feedback: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Iterative correction refines accuracy over time.</a:t>
            </a:r>
          </a:p>
        </p:txBody>
      </p:sp>
      <p:sp>
        <p:nvSpPr>
          <p:cNvPr id="35" name="TextBox 17">
            <a:extLst>
              <a:ext uri="{FF2B5EF4-FFF2-40B4-BE49-F238E27FC236}">
                <a16:creationId xmlns:a16="http://schemas.microsoft.com/office/drawing/2014/main" id="{C008123C-7592-16C5-A981-2FBD54E1EC17}"/>
              </a:ext>
            </a:extLst>
          </p:cNvPr>
          <p:cNvSpPr txBox="1"/>
          <p:nvPr/>
        </p:nvSpPr>
        <p:spPr>
          <a:xfrm>
            <a:off x="6724650" y="4406205"/>
            <a:ext cx="762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37" name="TextBox 18">
            <a:extLst>
              <a:ext uri="{FF2B5EF4-FFF2-40B4-BE49-F238E27FC236}">
                <a16:creationId xmlns:a16="http://schemas.microsoft.com/office/drawing/2014/main" id="{DB4F648A-F2B5-170A-824A-9E8A3A34740B}"/>
              </a:ext>
            </a:extLst>
          </p:cNvPr>
          <p:cNvSpPr txBox="1"/>
          <p:nvPr/>
        </p:nvSpPr>
        <p:spPr>
          <a:xfrm>
            <a:off x="6800850" y="4406205"/>
            <a:ext cx="5391150" cy="22860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Foundation: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Core building block of machine perception.</a:t>
            </a:r>
          </a:p>
        </p:txBody>
      </p:sp>
    </p:spTree>
    <p:extLst>
      <p:ext uri="{BB962C8B-B14F-4D97-AF65-F5344CB8AC3E}">
        <p14:creationId xmlns:p14="http://schemas.microsoft.com/office/powerpoint/2010/main" val="1993030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01FCA-2470-1474-7A91-68A9C2A41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AA2242EF-68CE-9ECC-2BE2-9B3E01788250}"/>
              </a:ext>
            </a:extLst>
          </p:cNvPr>
          <p:cNvSpPr/>
          <p:nvPr/>
        </p:nvSpPr>
        <p:spPr>
          <a:xfrm>
            <a:off x="1809750" y="2160389"/>
            <a:ext cx="8572500" cy="2599571"/>
          </a:xfrm>
          <a:prstGeom prst="roundRect">
            <a:avLst>
              <a:gd name="adj" fmla="val 43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6B66CA-6162-1606-AF0B-E95784E024BA}"/>
              </a:ext>
            </a:extLst>
          </p:cNvPr>
          <p:cNvSpPr/>
          <p:nvPr/>
        </p:nvSpPr>
        <p:spPr>
          <a:xfrm>
            <a:off x="2200275" y="3499246"/>
            <a:ext cx="7791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3" descr="image.png">
            <a:extLst>
              <a:ext uri="{FF2B5EF4-FFF2-40B4-BE49-F238E27FC236}">
                <a16:creationId xmlns:a16="http://schemas.microsoft.com/office/drawing/2014/main" id="{F6505825-9B08-4715-6794-E05740C26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1601" y="2550914"/>
            <a:ext cx="1940123" cy="681632"/>
          </a:xfrm>
          <a:prstGeom prst="rect">
            <a:avLst/>
          </a:prstGeom>
        </p:spPr>
      </p:pic>
      <p:pic>
        <p:nvPicPr>
          <p:cNvPr id="14" name="Picture 4" descr="image.png">
            <a:extLst>
              <a:ext uri="{FF2B5EF4-FFF2-40B4-BE49-F238E27FC236}">
                <a16:creationId xmlns:a16="http://schemas.microsoft.com/office/drawing/2014/main" id="{34145A00-52DF-4C6E-4A90-091B53044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3200" y="3750068"/>
            <a:ext cx="1940400" cy="666751"/>
          </a:xfrm>
          <a:prstGeom prst="rect">
            <a:avLst/>
          </a:prstGeom>
        </p:spPr>
      </p:pic>
      <p:pic>
        <p:nvPicPr>
          <p:cNvPr id="18" name="Picture 5" descr="image.png">
            <a:extLst>
              <a:ext uri="{FF2B5EF4-FFF2-40B4-BE49-F238E27FC236}">
                <a16:creationId xmlns:a16="http://schemas.microsoft.com/office/drawing/2014/main" id="{3E135368-0861-5A1A-DC84-ADB98F009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201" y="2665214"/>
            <a:ext cx="1482923" cy="453032"/>
          </a:xfrm>
          <a:prstGeom prst="rect">
            <a:avLst/>
          </a:prstGeom>
        </p:spPr>
      </p:pic>
      <p:sp>
        <p:nvSpPr>
          <p:cNvPr id="26" name="TextBox 8">
            <a:extLst>
              <a:ext uri="{FF2B5EF4-FFF2-40B4-BE49-F238E27FC236}">
                <a16:creationId xmlns:a16="http://schemas.microsoft.com/office/drawing/2014/main" id="{2C98F50F-EFDE-268B-04B2-74A89BD4C841}"/>
              </a:ext>
            </a:extLst>
          </p:cNvPr>
          <p:cNvSpPr txBox="1"/>
          <p:nvPr/>
        </p:nvSpPr>
        <p:spPr>
          <a:xfrm>
            <a:off x="609600" y="781050"/>
            <a:ext cx="115824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Perceptron Mathematical Formulation</a:t>
            </a:r>
          </a:p>
        </p:txBody>
      </p:sp>
      <p:sp>
        <p:nvSpPr>
          <p:cNvPr id="30" name="TextBox 9">
            <a:extLst>
              <a:ext uri="{FF2B5EF4-FFF2-40B4-BE49-F238E27FC236}">
                <a16:creationId xmlns:a16="http://schemas.microsoft.com/office/drawing/2014/main" id="{E2424A17-ECE4-EBFC-0EE1-99DE6C53A8F7}"/>
              </a:ext>
            </a:extLst>
          </p:cNvPr>
          <p:cNvSpPr txBox="1"/>
          <p:nvPr/>
        </p:nvSpPr>
        <p:spPr>
          <a:xfrm>
            <a:off x="2200275" y="2672655"/>
            <a:ext cx="452556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Weighted Sum Calculation</a:t>
            </a:r>
          </a:p>
        </p:txBody>
      </p:sp>
      <p:sp>
        <p:nvSpPr>
          <p:cNvPr id="34" name="TextBox 10">
            <a:extLst>
              <a:ext uri="{FF2B5EF4-FFF2-40B4-BE49-F238E27FC236}">
                <a16:creationId xmlns:a16="http://schemas.microsoft.com/office/drawing/2014/main" id="{E4EFE642-511A-AB0C-B228-8B4C23FE6812}"/>
              </a:ext>
            </a:extLst>
          </p:cNvPr>
          <p:cNvSpPr txBox="1"/>
          <p:nvPr/>
        </p:nvSpPr>
        <p:spPr>
          <a:xfrm>
            <a:off x="2200275" y="2929830"/>
            <a:ext cx="43100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Linear combination of inputs and weights plus bias</a:t>
            </a:r>
          </a:p>
        </p:txBody>
      </p:sp>
      <p:sp>
        <p:nvSpPr>
          <p:cNvPr id="38" name="TextBox 11">
            <a:extLst>
              <a:ext uri="{FF2B5EF4-FFF2-40B4-BE49-F238E27FC236}">
                <a16:creationId xmlns:a16="http://schemas.microsoft.com/office/drawing/2014/main" id="{27E789B1-E877-FEAC-0DC1-0E5CDF0505F7}"/>
              </a:ext>
            </a:extLst>
          </p:cNvPr>
          <p:cNvSpPr txBox="1"/>
          <p:nvPr/>
        </p:nvSpPr>
        <p:spPr>
          <a:xfrm>
            <a:off x="2200275" y="3897709"/>
            <a:ext cx="401300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Activation Function (Heaviside Step)</a:t>
            </a:r>
          </a:p>
        </p:txBody>
      </p:sp>
      <p:sp>
        <p:nvSpPr>
          <p:cNvPr id="40" name="TextBox 12">
            <a:extLst>
              <a:ext uri="{FF2B5EF4-FFF2-40B4-BE49-F238E27FC236}">
                <a16:creationId xmlns:a16="http://schemas.microsoft.com/office/drawing/2014/main" id="{FA957BF6-9251-D62C-49BF-CD84B3156162}"/>
              </a:ext>
            </a:extLst>
          </p:cNvPr>
          <p:cNvSpPr txBox="1"/>
          <p:nvPr/>
        </p:nvSpPr>
        <p:spPr>
          <a:xfrm>
            <a:off x="2200275" y="4154884"/>
            <a:ext cx="382190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Maps net input to binary output</a:t>
            </a:r>
          </a:p>
        </p:txBody>
      </p:sp>
      <p:pic>
        <p:nvPicPr>
          <p:cNvPr id="46" name="Image 45">
            <a:extLst>
              <a:ext uri="{FF2B5EF4-FFF2-40B4-BE49-F238E27FC236}">
                <a16:creationId xmlns:a16="http://schemas.microsoft.com/office/drawing/2014/main" id="{970BF8FD-DBD8-B460-109F-5AE580093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1613" y="3750069"/>
            <a:ext cx="1558636" cy="66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15250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168</Words>
  <Application>Microsoft Office PowerPoint</Application>
  <PresentationFormat>Grand écran</PresentationFormat>
  <Paragraphs>30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Inter</vt:lpstr>
      <vt:lpstr>Plus Jakarta Sans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Philippe Laurens</dc:creator>
  <cp:lastModifiedBy>Philippe Laurens</cp:lastModifiedBy>
  <cp:revision>8</cp:revision>
  <dcterms:created xsi:type="dcterms:W3CDTF">2026-10-10T15:54:25Z</dcterms:created>
  <dcterms:modified xsi:type="dcterms:W3CDTF">2026-10-12T10:43:16Z</dcterms:modified>
</cp:coreProperties>
</file>